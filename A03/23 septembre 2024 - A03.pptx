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5792" r:id="rId2"/>
    <p:sldId id="5253" r:id="rId3"/>
    <p:sldId id="5789" r:id="rId4"/>
    <p:sldId id="5790" r:id="rId5"/>
    <p:sldId id="5776" r:id="rId6"/>
    <p:sldId id="5791" r:id="rId7"/>
    <p:sldId id="5422" r:id="rId8"/>
    <p:sldId id="5423" r:id="rId9"/>
    <p:sldId id="5780" r:id="rId10"/>
    <p:sldId id="5778" r:id="rId11"/>
    <p:sldId id="578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>
        <p:scale>
          <a:sx n="90" d="100"/>
          <a:sy n="90" d="100"/>
        </p:scale>
        <p:origin x="55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a Castellanos" userId="c0e2d44673d34e6a" providerId="LiveId" clId="{62A052A5-D561-4DFD-AFDC-AB57F217FA39}"/>
    <pc:docChg chg="delSld">
      <pc:chgData name="Valeria Castellanos" userId="c0e2d44673d34e6a" providerId="LiveId" clId="{62A052A5-D561-4DFD-AFDC-AB57F217FA39}" dt="2024-09-24T02:04:03.043" v="2" actId="47"/>
      <pc:docMkLst>
        <pc:docMk/>
      </pc:docMkLst>
      <pc:sldChg chg="del">
        <pc:chgData name="Valeria Castellanos" userId="c0e2d44673d34e6a" providerId="LiveId" clId="{62A052A5-D561-4DFD-AFDC-AB57F217FA39}" dt="2024-09-24T02:03:58.392" v="0" actId="47"/>
        <pc:sldMkLst>
          <pc:docMk/>
          <pc:sldMk cId="2930142915" sldId="5426"/>
        </pc:sldMkLst>
      </pc:sldChg>
      <pc:sldChg chg="del">
        <pc:chgData name="Valeria Castellanos" userId="c0e2d44673d34e6a" providerId="LiveId" clId="{62A052A5-D561-4DFD-AFDC-AB57F217FA39}" dt="2024-09-24T02:04:03.043" v="2" actId="47"/>
        <pc:sldMkLst>
          <pc:docMk/>
          <pc:sldMk cId="674570466" sldId="5771"/>
        </pc:sldMkLst>
      </pc:sldChg>
      <pc:sldChg chg="del">
        <pc:chgData name="Valeria Castellanos" userId="c0e2d44673d34e6a" providerId="LiveId" clId="{62A052A5-D561-4DFD-AFDC-AB57F217FA39}" dt="2024-09-24T02:04:01" v="1" actId="47"/>
        <pc:sldMkLst>
          <pc:docMk/>
          <pc:sldMk cId="4213130022" sldId="57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53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6747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47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960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072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2309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08570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6047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748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212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40944"/>
            <a:ext cx="12192000" cy="656543"/>
          </a:xfrm>
          <a:prstGeom prst="rect">
            <a:avLst/>
          </a:prstGeom>
          <a:solidFill>
            <a:srgbClr val="1983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148" tIns="47574" rIns="95148" bIns="47574" rtlCol="0" anchor="ctr"/>
          <a:lstStyle/>
          <a:p>
            <a:pPr algn="l"/>
            <a:endParaRPr lang="fr-FR" sz="1904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2588" y="113544"/>
            <a:ext cx="9170733" cy="711341"/>
          </a:xfrm>
        </p:spPr>
        <p:txBody>
          <a:bodyPr>
            <a:normAutofit/>
          </a:bodyPr>
          <a:lstStyle>
            <a:lvl1pPr algn="l">
              <a:defRPr sz="2539" cap="all">
                <a:solidFill>
                  <a:schemeClr val="bg1"/>
                </a:solidFill>
                <a:latin typeface="Helvetica Neue Light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77836" y="6356352"/>
            <a:ext cx="437719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Teaser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492003" y="6243423"/>
            <a:ext cx="704840" cy="365125"/>
          </a:xfrm>
        </p:spPr>
        <p:txBody>
          <a:bodyPr/>
          <a:lstStyle>
            <a:lvl1pPr algn="r">
              <a:defRPr/>
            </a:lvl1pPr>
          </a:lstStyle>
          <a:p>
            <a:fld id="{879BF279-834A-1A43-B32C-B8AA92830F9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209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40944"/>
            <a:ext cx="12192000" cy="656543"/>
          </a:xfrm>
          <a:prstGeom prst="rect">
            <a:avLst/>
          </a:prstGeom>
          <a:solidFill>
            <a:srgbClr val="F7B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5148" tIns="47574" rIns="95148" bIns="47574" rtlCol="0" anchor="ctr"/>
          <a:lstStyle/>
          <a:p>
            <a:pPr algn="l"/>
            <a:endParaRPr lang="fr-FR" sz="1904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3166" y="113544"/>
            <a:ext cx="11922710" cy="711341"/>
          </a:xfrm>
        </p:spPr>
        <p:txBody>
          <a:bodyPr>
            <a:normAutofit/>
          </a:bodyPr>
          <a:lstStyle>
            <a:lvl1pPr algn="ctr">
              <a:defRPr sz="2400" cap="all">
                <a:solidFill>
                  <a:schemeClr val="bg1"/>
                </a:solidFill>
                <a:latin typeface="Helvetica Neue Light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77836" y="6356352"/>
            <a:ext cx="437719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Teaser 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492003" y="6243423"/>
            <a:ext cx="704840" cy="365125"/>
          </a:xfrm>
        </p:spPr>
        <p:txBody>
          <a:bodyPr/>
          <a:lstStyle>
            <a:lvl1pPr algn="r">
              <a:defRPr/>
            </a:lvl1pPr>
          </a:lstStyle>
          <a:p>
            <a:fld id="{879BF279-834A-1A43-B32C-B8AA92830F9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498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CC4BAAA-E745-47D3-9944-9EA9FCD8F49C}" type="datetimeFigureOut">
              <a:rPr lang="fr-CA" smtClean="0"/>
              <a:t>2024-09-23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C6268B8-A624-4B9E-BF6E-3C7515CE7EE5}" type="slidenum">
              <a:rPr lang="fr-CA" smtClean="0"/>
              <a:t>‹#›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2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ry_Simon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sa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youtube.com/shorts/yKdJFpkdo5g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27CB-A6F2-0263-18D0-E6F48EDA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Devinez : les mots interrogatifs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6336E1-D11A-5244-2A59-B46F0261E8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9" y="2084832"/>
          <a:ext cx="9720261" cy="41879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0087">
                  <a:extLst>
                    <a:ext uri="{9D8B030D-6E8A-4147-A177-3AD203B41FA5}">
                      <a16:colId xmlns:a16="http://schemas.microsoft.com/office/drawing/2014/main" val="695657048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4049957329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248875621"/>
                    </a:ext>
                  </a:extLst>
                </a:gridCol>
              </a:tblGrid>
              <a:tr h="1395984"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Où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Quel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Qui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0205"/>
                  </a:ext>
                </a:extLst>
              </a:tr>
              <a:tr h="1395984"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Que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Quoi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Combien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708257"/>
                  </a:ext>
                </a:extLst>
              </a:tr>
              <a:tr h="1395984"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Comment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Quand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4400" dirty="0">
                          <a:solidFill>
                            <a:srgbClr val="FF0000"/>
                          </a:solidFill>
                        </a:rPr>
                        <a:t>Pourquoi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403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45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340822" y="1915767"/>
            <a:ext cx="117625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INTONATION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DD666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Sujet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E58E35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verbe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+ ce qui reste + </a:t>
            </a:r>
            <a:r>
              <a:rPr lang="fr-FR" altLang="fr-FR" sz="2400" b="1" dirty="0">
                <a:solidFill>
                  <a:srgbClr val="3A84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(mot interrogatif si nécessaire) </a:t>
            </a:r>
            <a:r>
              <a:rPr lang="fr-FR" alt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  <a:r>
              <a:rPr lang="fr-FR" altLang="fr-FR" sz="2400" b="1" dirty="0">
                <a:solidFill>
                  <a:srgbClr val="3A84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  <a:endParaRPr lang="fr-CA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CA" sz="2000" dirty="0">
                <a:latin typeface="Calibri" panose="020F0502020204030204" pitchFamily="34" charset="0"/>
                <a:cs typeface="Calibri" panose="020F0502020204030204" pitchFamily="34" charset="0"/>
              </a:rPr>
              <a:t>		Ex : </a:t>
            </a:r>
            <a:r>
              <a:rPr lang="fr-FR" altLang="fr-FR" sz="2000" dirty="0">
                <a:solidFill>
                  <a:srgbClr val="DD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2000" dirty="0">
                <a:solidFill>
                  <a:srgbClr val="E58E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fais 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du magasinage à la Baie d’Hudson </a:t>
            </a:r>
            <a:r>
              <a:rPr lang="fr-FR" altLang="fr-FR" sz="2000" dirty="0">
                <a:solidFill>
                  <a:srgbClr val="3A84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avec qui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</a:p>
          <a:p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INVERSION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3A84C4"/>
                </a:solidFill>
                <a:effectLst/>
              </a:rPr>
              <a:t>(Mot interrogatif si nécessaire)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E58E35"/>
                </a:solidFill>
                <a:effectLst/>
              </a:rPr>
              <a:t>verbe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B2A5D3"/>
                </a:solidFill>
                <a:effectLst/>
              </a:rPr>
              <a:t>-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DD6666"/>
                </a:solidFill>
                <a:effectLst/>
              </a:rPr>
              <a:t>sujet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ce qui reste + ? </a:t>
            </a:r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CA" sz="2000" dirty="0">
                <a:latin typeface="Calibri" panose="020F0502020204030204" pitchFamily="34" charset="0"/>
                <a:cs typeface="Calibri" panose="020F0502020204030204" pitchFamily="34" charset="0"/>
              </a:rPr>
              <a:t>		Ex :</a:t>
            </a:r>
            <a:r>
              <a:rPr lang="fr-CA" sz="2000" dirty="0">
                <a:solidFill>
                  <a:srgbClr val="C1637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2000" dirty="0">
                <a:solidFill>
                  <a:srgbClr val="3A84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Avec qui </a:t>
            </a:r>
            <a:r>
              <a:rPr lang="fr-FR" altLang="fr-FR" sz="2000" dirty="0">
                <a:solidFill>
                  <a:srgbClr val="E58E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fais</a:t>
            </a:r>
            <a:r>
              <a:rPr lang="fr-FR" altLang="fr-FR" sz="2000" dirty="0">
                <a:solidFill>
                  <a:srgbClr val="B2A5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fr-FR" altLang="fr-FR" sz="2000" dirty="0">
                <a:solidFill>
                  <a:srgbClr val="DD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 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du magasinage à la Baie d’Hudson? </a:t>
            </a:r>
          </a:p>
          <a:p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endParaRPr lang="fr-CA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EST-CE QUE :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3A84C4"/>
                </a:solidFill>
                <a:effectLst/>
              </a:rPr>
              <a:t>(Mot interrogatif si nécessaire)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68A54C"/>
                </a:solidFill>
                <a:effectLst/>
              </a:rPr>
              <a:t>est-ce que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DD6666"/>
                </a:solidFill>
                <a:effectLst/>
              </a:rPr>
              <a:t>sujet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rgbClr val="E58E35"/>
                </a:solidFill>
                <a:effectLst/>
              </a:rPr>
              <a:t>verbe </a:t>
            </a: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ce qui reste + ? </a:t>
            </a:r>
            <a:r>
              <a:rPr lang="fr-CA" sz="2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r>
              <a:rPr lang="fr-CA" sz="2000" dirty="0">
                <a:latin typeface="Calibri" panose="020F0502020204030204" pitchFamily="34" charset="0"/>
                <a:cs typeface="Calibri" panose="020F0502020204030204" pitchFamily="34" charset="0"/>
              </a:rPr>
              <a:t>		Ex : </a:t>
            </a:r>
            <a:r>
              <a:rPr lang="fr-FR" altLang="fr-FR" sz="2000" dirty="0">
                <a:solidFill>
                  <a:srgbClr val="3A84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Avec qui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2000" dirty="0">
                <a:solidFill>
                  <a:srgbClr val="68A54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est-ce que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2000" dirty="0">
                <a:solidFill>
                  <a:srgbClr val="DD666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2000" dirty="0">
                <a:solidFill>
                  <a:srgbClr val="E58E3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fais</a:t>
            </a:r>
            <a:r>
              <a:rPr lang="fr-FR" alt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 du magasinage à la Baie d’Hudson?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889D117-DFB1-84D0-8314-FFF31983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trois styles de questions</a:t>
            </a:r>
          </a:p>
        </p:txBody>
      </p:sp>
    </p:spTree>
    <p:extLst>
      <p:ext uri="{BB962C8B-B14F-4D97-AF65-F5344CB8AC3E}">
        <p14:creationId xmlns:p14="http://schemas.microsoft.com/office/powerpoint/2010/main" val="207654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31B7-FCD9-329C-F235-B165B5AF4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57DE0-22BD-7987-6452-143D1FCF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87236"/>
            <a:ext cx="9720073" cy="4522124"/>
          </a:xfrm>
        </p:spPr>
        <p:txBody>
          <a:bodyPr/>
          <a:lstStyle/>
          <a:p>
            <a:r>
              <a:rPr lang="fr-CA" dirty="0"/>
              <a:t>Vous parlez italien. </a:t>
            </a:r>
          </a:p>
          <a:p>
            <a:r>
              <a:rPr lang="fr-CA" dirty="0"/>
              <a:t>Intonation: Vous parlez italien? </a:t>
            </a:r>
          </a:p>
          <a:p>
            <a:r>
              <a:rPr lang="fr-CA" dirty="0"/>
              <a:t>Inversion: Parlez-vous italien?</a:t>
            </a:r>
          </a:p>
          <a:p>
            <a:r>
              <a:rPr lang="fr-CA" dirty="0"/>
              <a:t>Est-ce que: Est-ce que vous parlez italien?</a:t>
            </a:r>
          </a:p>
          <a:p>
            <a:endParaRPr lang="fr-CA" dirty="0"/>
          </a:p>
          <a:p>
            <a:r>
              <a:rPr lang="fr-CA" dirty="0" err="1"/>
              <a:t>Israel</a:t>
            </a:r>
            <a:r>
              <a:rPr lang="fr-CA" dirty="0"/>
              <a:t> et Griselda travaillent très fort. </a:t>
            </a:r>
          </a:p>
          <a:p>
            <a:r>
              <a:rPr lang="fr-CA" dirty="0"/>
              <a:t>Intonation: </a:t>
            </a:r>
            <a:r>
              <a:rPr lang="fr-CA" dirty="0" err="1"/>
              <a:t>Israel</a:t>
            </a:r>
            <a:r>
              <a:rPr lang="fr-CA" dirty="0"/>
              <a:t> et Griselda travaillent très fort?</a:t>
            </a:r>
          </a:p>
          <a:p>
            <a:r>
              <a:rPr lang="fr-CA" dirty="0"/>
              <a:t>Inversion: Travaillent </a:t>
            </a:r>
            <a:r>
              <a:rPr lang="fr-CA" dirty="0" err="1"/>
              <a:t>Israel</a:t>
            </a:r>
            <a:r>
              <a:rPr lang="fr-CA" dirty="0"/>
              <a:t> et Griselda très fort? / travaillent-ils très fort?</a:t>
            </a:r>
          </a:p>
          <a:p>
            <a:r>
              <a:rPr lang="fr-CA" dirty="0"/>
              <a:t>Est-ce que: Est-ce </a:t>
            </a:r>
            <a:r>
              <a:rPr lang="fr-CA" dirty="0">
                <a:highlight>
                  <a:srgbClr val="FFFF00"/>
                </a:highlight>
              </a:rPr>
              <a:t>qu’</a:t>
            </a:r>
            <a:r>
              <a:rPr lang="fr-CA" dirty="0" err="1">
                <a:highlight>
                  <a:srgbClr val="FFFF00"/>
                </a:highlight>
              </a:rPr>
              <a:t>I</a:t>
            </a:r>
            <a:r>
              <a:rPr lang="fr-CA" dirty="0" err="1"/>
              <a:t>srael</a:t>
            </a:r>
            <a:r>
              <a:rPr lang="fr-CA" dirty="0"/>
              <a:t> et Griselda travaillent très fort?</a:t>
            </a:r>
          </a:p>
        </p:txBody>
      </p:sp>
    </p:spTree>
    <p:extLst>
      <p:ext uri="{BB962C8B-B14F-4D97-AF65-F5344CB8AC3E}">
        <p14:creationId xmlns:p14="http://schemas.microsoft.com/office/powerpoint/2010/main" val="157626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894B-431B-A9BF-4099-51FE3A48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3BDFF-0B2C-AF56-7E68-A88B9B597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Nous avons mangé de la nourriture italienne. </a:t>
            </a:r>
          </a:p>
          <a:p>
            <a:r>
              <a:rPr lang="fr-CA" dirty="0"/>
              <a:t>Intonation: Nous </a:t>
            </a:r>
            <a:r>
              <a:rPr lang="fr-CA" dirty="0">
                <a:solidFill>
                  <a:srgbClr val="FF0000"/>
                </a:solidFill>
              </a:rPr>
              <a:t>avons mangé </a:t>
            </a:r>
            <a:r>
              <a:rPr lang="fr-CA" dirty="0"/>
              <a:t>de la nourriture italienne?</a:t>
            </a:r>
          </a:p>
          <a:p>
            <a:r>
              <a:rPr lang="fr-CA" dirty="0"/>
              <a:t>Inversion: </a:t>
            </a:r>
            <a:r>
              <a:rPr lang="fr-CA" dirty="0">
                <a:solidFill>
                  <a:srgbClr val="FF0000"/>
                </a:solidFill>
              </a:rPr>
              <a:t>Avons</a:t>
            </a:r>
            <a:r>
              <a:rPr lang="fr-CA" dirty="0"/>
              <a:t>-nous </a:t>
            </a:r>
            <a:r>
              <a:rPr lang="fr-CA" dirty="0">
                <a:solidFill>
                  <a:srgbClr val="FF0000"/>
                </a:solidFill>
              </a:rPr>
              <a:t>mangé</a:t>
            </a:r>
            <a:r>
              <a:rPr lang="fr-CA" dirty="0"/>
              <a:t> de la nourriture italienne? </a:t>
            </a:r>
          </a:p>
          <a:p>
            <a:r>
              <a:rPr lang="fr-CA" dirty="0"/>
              <a:t>Est-ce que: </a:t>
            </a:r>
            <a:r>
              <a:rPr lang="fr-CA" dirty="0">
                <a:solidFill>
                  <a:schemeClr val="accent2"/>
                </a:solidFill>
              </a:rPr>
              <a:t>Est-ce que </a:t>
            </a:r>
            <a:r>
              <a:rPr lang="fr-CA" dirty="0"/>
              <a:t>nous </a:t>
            </a:r>
            <a:r>
              <a:rPr lang="fr-CA" dirty="0">
                <a:solidFill>
                  <a:srgbClr val="FF0000"/>
                </a:solidFill>
              </a:rPr>
              <a:t>avons mangé </a:t>
            </a:r>
            <a:r>
              <a:rPr lang="fr-CA" dirty="0"/>
              <a:t>de la nourriture italienne?</a:t>
            </a:r>
          </a:p>
          <a:p>
            <a:endParaRPr lang="fr-CA" dirty="0"/>
          </a:p>
          <a:p>
            <a:r>
              <a:rPr lang="fr-CA" dirty="0"/>
              <a:t>Tu manges     (quoi)</a:t>
            </a:r>
          </a:p>
          <a:p>
            <a:r>
              <a:rPr lang="fr-CA" dirty="0"/>
              <a:t>Tu manges quoi?</a:t>
            </a:r>
          </a:p>
          <a:p>
            <a:r>
              <a:rPr lang="fr-CA" dirty="0"/>
              <a:t>Tu danses     (où)</a:t>
            </a:r>
          </a:p>
          <a:p>
            <a:r>
              <a:rPr lang="fr-CA" dirty="0"/>
              <a:t>Tu danses où?</a:t>
            </a:r>
          </a:p>
        </p:txBody>
      </p:sp>
    </p:spTree>
    <p:extLst>
      <p:ext uri="{BB962C8B-B14F-4D97-AF65-F5344CB8AC3E}">
        <p14:creationId xmlns:p14="http://schemas.microsoft.com/office/powerpoint/2010/main" val="776202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F379-03F4-47D0-1202-34183EB0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 – les couleurs chez vous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EE75F-0D8F-8889-C3DE-41A45DE4F2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dirty="0"/>
              <a:t>En petits groupes, préparez 4 questions pour vos collègues à propos des couleurs </a:t>
            </a:r>
            <a:r>
              <a:rPr lang="fr-CA" dirty="0">
                <a:highlight>
                  <a:srgbClr val="FFFF00"/>
                </a:highlight>
              </a:rPr>
              <a:t>chez eux</a:t>
            </a:r>
            <a:r>
              <a:rPr lang="fr-CA" dirty="0"/>
              <a:t>. </a:t>
            </a:r>
          </a:p>
          <a:p>
            <a:pPr lvl="1"/>
            <a:r>
              <a:rPr lang="fr-CA" dirty="0"/>
              <a:t>2 questions avec un mot interrogatif</a:t>
            </a:r>
          </a:p>
          <a:p>
            <a:pPr lvl="1"/>
            <a:r>
              <a:rPr lang="fr-CA" dirty="0"/>
              <a:t>2 questions dont la réponse est « oui/non »</a:t>
            </a:r>
          </a:p>
          <a:p>
            <a:r>
              <a:rPr lang="fr-CA" dirty="0"/>
              <a:t>Exemple: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accent2"/>
                </a:solidFill>
              </a:rPr>
              <a:t>Quelle</a:t>
            </a:r>
            <a:r>
              <a:rPr lang="fr-CA" dirty="0"/>
              <a:t> est la couleur de </a:t>
            </a:r>
            <a:r>
              <a:rPr lang="fr-CA" dirty="0">
                <a:highlight>
                  <a:srgbClr val="FFFF00"/>
                </a:highlight>
              </a:rPr>
              <a:t>ta</a:t>
            </a:r>
            <a:r>
              <a:rPr lang="fr-CA" dirty="0"/>
              <a:t> porte?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As-tu une tasse verte?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38942-0250-2093-EA64-79AEE9D1F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fr-CA" dirty="0"/>
              <a:t>Vocabulaire: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 la porte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La tasse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Le frigo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Le canapé, Le fauteuil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Le mur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La 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Le tableau = painting, </a:t>
            </a:r>
            <a:r>
              <a:rPr lang="fr-CA" dirty="0" err="1"/>
              <a:t>whiteboard</a:t>
            </a:r>
            <a:r>
              <a:rPr lang="fr-CA" dirty="0"/>
              <a:t>/</a:t>
            </a:r>
            <a:r>
              <a:rPr lang="fr-CA" dirty="0" err="1"/>
              <a:t>blackboard</a:t>
            </a:r>
            <a:endParaRPr lang="fr-CA" dirty="0"/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La fenêtre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Le lit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A" dirty="0"/>
              <a:t> La couverture </a:t>
            </a:r>
          </a:p>
        </p:txBody>
      </p:sp>
    </p:spTree>
    <p:extLst>
      <p:ext uri="{BB962C8B-B14F-4D97-AF65-F5344CB8AC3E}">
        <p14:creationId xmlns:p14="http://schemas.microsoft.com/office/powerpoint/2010/main" val="312483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41DBE-903E-58A7-DE4D-D3E5F87A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0A8E9-1D7D-28D4-1468-5262AEC16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Quelle est la couleur de ta table?</a:t>
            </a:r>
          </a:p>
          <a:p>
            <a:r>
              <a:rPr lang="fr-CA" dirty="0"/>
              <a:t>Quelle est la couleur de votre table?</a:t>
            </a:r>
          </a:p>
          <a:p>
            <a:r>
              <a:rPr lang="fr-CA" dirty="0"/>
              <a:t>Quelle est la couleur de la table chez toi? </a:t>
            </a:r>
          </a:p>
          <a:p>
            <a:r>
              <a:rPr lang="fr-CA" dirty="0"/>
              <a:t>Quelle est la couleur de la table chez vous? </a:t>
            </a:r>
          </a:p>
          <a:p>
            <a:r>
              <a:rPr lang="fr-CA" dirty="0"/>
              <a:t>Quelle est la couleur d’une table chez vous?</a:t>
            </a:r>
          </a:p>
          <a:p>
            <a:r>
              <a:rPr lang="fr-CA" dirty="0"/>
              <a:t>Quelle est la couleur des tables chez vous?</a:t>
            </a:r>
          </a:p>
          <a:p>
            <a:r>
              <a:rPr lang="fr-CA" dirty="0"/>
              <a:t> </a:t>
            </a:r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7433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Prévisions Météo, Météo, Symboles, Soleil, La Plui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3" t="43420" r="81543" b="41529"/>
          <a:stretch/>
        </p:blipFill>
        <p:spPr bwMode="auto">
          <a:xfrm>
            <a:off x="6718925" y="5183519"/>
            <a:ext cx="895546" cy="6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Température, Chaude, Chaud, Froid, Météo, Degrés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50"/>
          <a:stretch/>
        </p:blipFill>
        <p:spPr bwMode="auto">
          <a:xfrm>
            <a:off x="7166698" y="3617028"/>
            <a:ext cx="253875" cy="33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Météo, Signes, Symboles, Prévision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8" t="478" r="62614" b="71686"/>
          <a:stretch/>
        </p:blipFill>
        <p:spPr bwMode="auto">
          <a:xfrm>
            <a:off x="6821715" y="4416113"/>
            <a:ext cx="756236" cy="60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Météo, Signes, Symboles, Prévision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99" t="71707" r="504"/>
          <a:stretch/>
        </p:blipFill>
        <p:spPr bwMode="auto">
          <a:xfrm>
            <a:off x="1059117" y="5080922"/>
            <a:ext cx="607618" cy="52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Météo, Signes, Symboles, Prévision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10" t="35781" r="41352" b="35077"/>
          <a:stretch/>
        </p:blipFill>
        <p:spPr bwMode="auto">
          <a:xfrm>
            <a:off x="1044566" y="3272071"/>
            <a:ext cx="609274" cy="53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Prévisions Météo, Météo, Symboles, Soleil, La Plui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48" t="20945" r="43502" b="67715"/>
          <a:stretch/>
        </p:blipFill>
        <p:spPr bwMode="auto">
          <a:xfrm>
            <a:off x="6917228" y="2670704"/>
            <a:ext cx="642496" cy="43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Météo, Icône, Prévisions, Symbole, Inscrivez Vous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80" y="5885106"/>
            <a:ext cx="455352" cy="45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Température, Chaude, Chaud, Froid, Météo, Degrés"/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91"/>
          <a:stretch/>
        </p:blipFill>
        <p:spPr bwMode="auto">
          <a:xfrm>
            <a:off x="1180884" y="2328053"/>
            <a:ext cx="350182" cy="41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Prévisions Météo, Météo, Symboles, Soleil, La Plui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25" t="60481" r="70409" b="21787"/>
          <a:stretch/>
        </p:blipFill>
        <p:spPr bwMode="auto">
          <a:xfrm>
            <a:off x="6917228" y="1869199"/>
            <a:ext cx="595949" cy="59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révisions Météo, Météo, Symboles, Soleil, La Plui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" t="42469" r="93501" b="42273"/>
          <a:stretch/>
        </p:blipFill>
        <p:spPr bwMode="auto">
          <a:xfrm>
            <a:off x="1051841" y="4068141"/>
            <a:ext cx="622169" cy="69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1769468" y="2165052"/>
            <a:ext cx="37036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dirty="0">
                <a:latin typeface="Calibri"/>
                <a:cs typeface="Calibri"/>
              </a:rPr>
              <a:t>Il fait (très) froid. </a:t>
            </a:r>
          </a:p>
          <a:p>
            <a:r>
              <a:rPr lang="fr-CA" sz="2400" dirty="0">
                <a:latin typeface="Calibri"/>
                <a:cs typeface="Calibri"/>
              </a:rPr>
              <a:t>Il fait frais. 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pleut.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fait tempête.</a:t>
            </a:r>
          </a:p>
          <a:p>
            <a:r>
              <a:rPr lang="fr-CA" sz="2400" dirty="0">
                <a:latin typeface="Calibri"/>
                <a:cs typeface="Calibri"/>
              </a:rPr>
              <a:t>Il y a un orage.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y a du broui</a:t>
            </a:r>
            <a:r>
              <a:rPr lang="fr-CA" sz="2400" dirty="0">
                <a:highlight>
                  <a:srgbClr val="FFFF00"/>
                </a:highlight>
                <a:latin typeface="Calibri"/>
                <a:cs typeface="Calibri"/>
              </a:rPr>
              <a:t>ll</a:t>
            </a:r>
            <a:r>
              <a:rPr lang="fr-CA" sz="2400" dirty="0">
                <a:latin typeface="Calibri"/>
                <a:cs typeface="Calibri"/>
              </a:rPr>
              <a:t>ard.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vente.  </a:t>
            </a:r>
          </a:p>
          <a:p>
            <a:r>
              <a:rPr lang="fr-CA" sz="2400" dirty="0">
                <a:latin typeface="Calibri"/>
                <a:cs typeface="Calibri"/>
              </a:rPr>
              <a:t>Il y a du vent.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7591964" y="1820948"/>
            <a:ext cx="396102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400" dirty="0">
                <a:latin typeface="Calibri"/>
                <a:cs typeface="Calibri"/>
              </a:rPr>
              <a:t>Il neige. 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fait soleil. </a:t>
            </a:r>
          </a:p>
          <a:p>
            <a:r>
              <a:rPr lang="fr-CA" sz="2400" dirty="0">
                <a:latin typeface="Calibri"/>
                <a:cs typeface="Calibri"/>
              </a:rPr>
              <a:t>Il y a du soleil.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fait (très) chaud.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C’est partiellement nuageux. </a:t>
            </a:r>
          </a:p>
          <a:p>
            <a:r>
              <a:rPr lang="fr-CA" sz="2400" dirty="0">
                <a:latin typeface="Calibri"/>
                <a:cs typeface="Calibri"/>
              </a:rPr>
              <a:t>C’est partiellement ensole</a:t>
            </a:r>
            <a:r>
              <a:rPr lang="fr-CA" sz="2400" dirty="0">
                <a:highlight>
                  <a:srgbClr val="FFFF00"/>
                </a:highlight>
                <a:latin typeface="Calibri"/>
                <a:cs typeface="Calibri"/>
              </a:rPr>
              <a:t>ill</a:t>
            </a:r>
            <a:r>
              <a:rPr lang="fr-CA" sz="2400" dirty="0">
                <a:latin typeface="Calibri"/>
                <a:cs typeface="Calibri"/>
              </a:rPr>
              <a:t>é. 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C’est nuageux.</a:t>
            </a:r>
          </a:p>
          <a:p>
            <a:endParaRPr lang="fr-CA" sz="2400" dirty="0">
              <a:latin typeface="Calibri"/>
              <a:cs typeface="Calibri"/>
            </a:endParaRPr>
          </a:p>
          <a:p>
            <a:r>
              <a:rPr lang="fr-CA" sz="2400" dirty="0">
                <a:latin typeface="Calibri"/>
                <a:cs typeface="Calibri"/>
              </a:rPr>
              <a:t>Il grêle. </a:t>
            </a:r>
          </a:p>
        </p:txBody>
      </p:sp>
      <p:pic>
        <p:nvPicPr>
          <p:cNvPr id="17" name="Image 16" descr="Une image contenant fleur, extérieur, plante, sabline&#10;&#10;Description générée automatiquement">
            <a:extLst>
              <a:ext uri="{FF2B5EF4-FFF2-40B4-BE49-F238E27FC236}">
                <a16:creationId xmlns:a16="http://schemas.microsoft.com/office/drawing/2014/main" id="{90389D7C-F9D6-434C-BB73-854EA102D4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318" y="6036357"/>
            <a:ext cx="1334020" cy="734408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BA84F66-BD4F-97A6-1285-26B2D9786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météo – quel temps fait-il? </a:t>
            </a:r>
          </a:p>
        </p:txBody>
      </p:sp>
    </p:spTree>
    <p:extLst>
      <p:ext uri="{BB962C8B-B14F-4D97-AF65-F5344CB8AC3E}">
        <p14:creationId xmlns:p14="http://schemas.microsoft.com/office/powerpoint/2010/main" val="45473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E552-8B83-2BA2-6F41-5D815313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température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F90C0-3E3D-72DE-0D2C-D0BE3DDC4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Au Canada, on utilise </a:t>
            </a:r>
            <a:r>
              <a:rPr lang="fr-CA" dirty="0">
                <a:solidFill>
                  <a:schemeClr val="accent2"/>
                </a:solidFill>
              </a:rPr>
              <a:t>Celsius</a:t>
            </a:r>
            <a:r>
              <a:rPr lang="fr-CA" dirty="0"/>
              <a:t>. °C = degrés Celsius  ​</a:t>
            </a:r>
          </a:p>
          <a:p>
            <a:r>
              <a:rPr lang="fr-CA" dirty="0"/>
              <a:t>Exemple : Il fait 10°C (dix degrés Celsius).​</a:t>
            </a:r>
          </a:p>
          <a:p>
            <a:endParaRPr lang="fr-CA" dirty="0"/>
          </a:p>
          <a:p>
            <a:r>
              <a:rPr lang="fr-CA" dirty="0"/>
              <a:t>Températures négatives (ex: -15°C): il faut dire </a:t>
            </a:r>
            <a:r>
              <a:rPr lang="fr-CA" dirty="0">
                <a:solidFill>
                  <a:schemeClr val="accent2"/>
                </a:solidFill>
              </a:rPr>
              <a:t>moins: </a:t>
            </a:r>
            <a:r>
              <a:rPr lang="fr-CA" dirty="0"/>
              <a:t>Moins quinze degrés Celsius</a:t>
            </a:r>
          </a:p>
          <a:p>
            <a:endParaRPr lang="fr-CA" dirty="0"/>
          </a:p>
          <a:p>
            <a:r>
              <a:rPr lang="fr-CA" dirty="0"/>
              <a:t>Maximale et minimale: </a:t>
            </a:r>
          </a:p>
          <a:p>
            <a:r>
              <a:rPr lang="fr-CA" dirty="0"/>
              <a:t>La température maximale prévue est de 20°C (vingt degrés Celsius). ​</a:t>
            </a:r>
          </a:p>
          <a:p>
            <a:r>
              <a:rPr lang="fr-CA" dirty="0"/>
              <a:t>La température minimale prévue est de -3°C (moins trois degrés Celsius) </a:t>
            </a:r>
          </a:p>
        </p:txBody>
      </p:sp>
    </p:spTree>
    <p:extLst>
      <p:ext uri="{BB962C8B-B14F-4D97-AF65-F5344CB8AC3E}">
        <p14:creationId xmlns:p14="http://schemas.microsoft.com/office/powerpoint/2010/main" val="2002878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F761-897F-8468-FAF6-F05ED10C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 – la météo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27E0C-14E0-5DFA-61D7-5773CF8974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accent2"/>
                </a:solidFill>
              </a:rPr>
              <a:t>Quelle</a:t>
            </a:r>
            <a:r>
              <a:rPr lang="fr-CA" dirty="0"/>
              <a:t> est la température à Winnipeg?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accent2"/>
                </a:solidFill>
              </a:rPr>
              <a:t>Quel</a:t>
            </a:r>
            <a:r>
              <a:rPr lang="fr-CA" dirty="0"/>
              <a:t> temps fait-il à Toronto?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accent2"/>
                </a:solidFill>
              </a:rPr>
              <a:t>Quelle</a:t>
            </a:r>
            <a:r>
              <a:rPr lang="fr-CA" dirty="0"/>
              <a:t> est la température à Vancouver?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>
                <a:solidFill>
                  <a:schemeClr val="accent2"/>
                </a:solidFill>
              </a:rPr>
              <a:t>Quel</a:t>
            </a:r>
            <a:r>
              <a:rPr lang="fr-CA" dirty="0"/>
              <a:t> temps fait-il à Montréal?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Fait-il beau à Yellowknife?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Fait-il beau à Edmonton?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Aimes-tu la pluie?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Aimes-tu les tempêtes?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Aimes-tu la neige?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62BF2-9B30-2912-5291-849B91A964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1246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E951-D479-4D81-2613-E1945ABF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Mary Simon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7D10D-0047-3F9B-C572-7335469327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b="1" dirty="0"/>
              <a:t>Écrivez quatre questions à propos de Mary Simon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Mary Simon est né</a:t>
            </a:r>
            <a:r>
              <a:rPr lang="fr-CA" dirty="0">
                <a:highlight>
                  <a:srgbClr val="FFFF00"/>
                </a:highlight>
              </a:rPr>
              <a:t>e</a:t>
            </a:r>
            <a:r>
              <a:rPr lang="fr-CA" dirty="0"/>
              <a:t> le 20 août 1947.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Mary Simon est née à Kangiqsualujjuaq, au Nunavik (Québec).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Mary Simon a une fille et deux fils. 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Mary Simon est la Gouverneure générale du Canada. </a:t>
            </a:r>
          </a:p>
          <a:p>
            <a:pPr lvl="1"/>
            <a:r>
              <a:rPr lang="fr-CA" dirty="0"/>
              <a:t>Elle est devenue Gouverneure générale le 26 juillet 2021.</a:t>
            </a:r>
          </a:p>
          <a:p>
            <a:pPr marL="457200" indent="-457200">
              <a:buFont typeface="+mj-lt"/>
              <a:buAutoNum type="arabicPeriod"/>
            </a:pPr>
            <a:r>
              <a:rPr lang="fr-CA" dirty="0"/>
              <a:t>Justin Trudeau a nominé Mary Simon pour le poste de gouverneure générale.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CA" dirty="0"/>
              <a:t>La Reine Élisabeth II a approuvé la nomination. </a:t>
            </a:r>
          </a:p>
        </p:txBody>
      </p:sp>
      <p:pic>
        <p:nvPicPr>
          <p:cNvPr id="6" name="Content Placeholder 5" descr="A person wearing glasses and a black jacket&#10;&#10;Description automatically generated">
            <a:extLst>
              <a:ext uri="{FF2B5EF4-FFF2-40B4-BE49-F238E27FC236}">
                <a16:creationId xmlns:a16="http://schemas.microsoft.com/office/drawing/2014/main" id="{68E1CF31-DD68-7306-1E58-475016DB66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66065" y="2284650"/>
            <a:ext cx="2826328" cy="399066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1E2589-0D60-AB0F-5DDD-36CE8CB3400D}"/>
              </a:ext>
            </a:extLst>
          </p:cNvPr>
          <p:cNvSpPr txBox="1"/>
          <p:nvPr/>
        </p:nvSpPr>
        <p:spPr>
          <a:xfrm>
            <a:off x="6898205" y="6272784"/>
            <a:ext cx="30806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900">
                <a:hlinkClick r:id="rId3" tooltip="https://en.wikipedia.org/wiki/Mary_Simon"/>
              </a:rPr>
              <a:t>This Photo</a:t>
            </a:r>
            <a:r>
              <a:rPr lang="fr-CA" sz="900"/>
              <a:t> by Unknown Author is licensed under </a:t>
            </a:r>
            <a:r>
              <a:rPr lang="fr-CA" sz="900">
                <a:hlinkClick r:id="rId4" tooltip="https://creativecommons.org/licenses/by-sa/3.0/"/>
              </a:rPr>
              <a:t>CC BY-SA</a:t>
            </a:r>
            <a:endParaRPr lang="fr-CA" sz="900"/>
          </a:p>
        </p:txBody>
      </p:sp>
    </p:spTree>
    <p:extLst>
      <p:ext uri="{BB962C8B-B14F-4D97-AF65-F5344CB8AC3E}">
        <p14:creationId xmlns:p14="http://schemas.microsoft.com/office/powerpoint/2010/main" val="384557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446F0-36A4-3B43-497D-86177F50C7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Vocabulaire: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Tuer (me tue)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Se balader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Talons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CA" dirty="0"/>
              <a:t>Les pavés</a:t>
            </a:r>
          </a:p>
          <a:p>
            <a:pPr>
              <a:buFont typeface="Arial" panose="020B0604020202020204" pitchFamily="34" charset="0"/>
              <a:buChar char="•"/>
            </a:pPr>
            <a:endParaRPr lang="fr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EB5EB-43AA-58EE-78D6-A02607E5C7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>
                <a:hlinkClick r:id="rId2"/>
              </a:rPr>
              <a:t>https://www.youtube.com/shorts/yKdJFpkdo5g</a:t>
            </a:r>
            <a:r>
              <a:rPr lang="fr-CA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27D5E3-1359-3321-B150-C1065A1F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CA" dirty="0"/>
              <a:t>La comédie en français</a:t>
            </a:r>
          </a:p>
        </p:txBody>
      </p:sp>
      <p:pic>
        <p:nvPicPr>
          <p:cNvPr id="2050" name="Picture 2" descr="Paris : Passage Saint Maur, quelques-uns des derniers pavés en bois de Paris  au 81 rue Saint Maur - XIème - Paris la douce, magazine parisien, culture,  sorties, art de vivre">
            <a:extLst>
              <a:ext uri="{FF2B5EF4-FFF2-40B4-BE49-F238E27FC236}">
                <a16:creationId xmlns:a16="http://schemas.microsoft.com/office/drawing/2014/main" id="{196617CA-9DA1-749A-D0CB-7551C1B2F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88" y="3728243"/>
            <a:ext cx="3819199" cy="254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962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2585</TotalTime>
  <Words>726</Words>
  <Application>Microsoft Office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Helvetica Neue Light</vt:lpstr>
      <vt:lpstr>Tw Cen MT</vt:lpstr>
      <vt:lpstr>Tw Cen MT Condensed</vt:lpstr>
      <vt:lpstr>Wingdings 3</vt:lpstr>
      <vt:lpstr>Integral</vt:lpstr>
      <vt:lpstr>Devinez : les mots interrogatifs</vt:lpstr>
      <vt:lpstr>Les trois styles de questions</vt:lpstr>
      <vt:lpstr>PowerPoint Presentation</vt:lpstr>
      <vt:lpstr>PowerPoint Presentation</vt:lpstr>
      <vt:lpstr>Questions – les couleurs chez vous</vt:lpstr>
      <vt:lpstr>PowerPoint Presentation</vt:lpstr>
      <vt:lpstr>La météo – quel temps fait-il? </vt:lpstr>
      <vt:lpstr>La température</vt:lpstr>
      <vt:lpstr>Questions – la météo </vt:lpstr>
      <vt:lpstr>Mary Simon</vt:lpstr>
      <vt:lpstr>La comédie en français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 - A03 Hiver 2024</dc:title>
  <dc:creator>Valeria Castellanos</dc:creator>
  <cp:lastModifiedBy>Valeria Castellanos</cp:lastModifiedBy>
  <cp:revision>5</cp:revision>
  <dcterms:created xsi:type="dcterms:W3CDTF">2024-01-07T01:32:02Z</dcterms:created>
  <dcterms:modified xsi:type="dcterms:W3CDTF">2024-09-24T02:04:07Z</dcterms:modified>
</cp:coreProperties>
</file>